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640080" y="1645920"/>
            <a:ext cx="7863840" cy="1097280"/>
          </a:xfrm>
          <a:prstGeom prst="rect">
            <a:avLst/>
          </a:prstGeom>
          <a:noFill/>
        </p:spPr>
        <p:txBody>
          <a:bodyPr wrap="square">
            <a:spAutoFit/>
          </a:bodyPr>
          <a:lstStyle/>
          <a:p>
            <a:pPr algn="ctr"/>
            <a:r>
              <a:rPr sz="5400" b="1" i="0">
                <a:solidFill>
                  <a:srgbClr val="FFFFFF"/>
                </a:solidFill>
              </a:rPr>
              <a:t>Lexara</a:t>
            </a:r>
          </a:p>
        </p:txBody>
      </p:sp>
      <p:sp>
        <p:nvSpPr>
          <p:cNvPr id="3" name="TextBox 2"/>
          <p:cNvSpPr txBox="1"/>
          <p:nvPr/>
        </p:nvSpPr>
        <p:spPr>
          <a:xfrm>
            <a:off x="640080" y="2926080"/>
            <a:ext cx="7863840" cy="822960"/>
          </a:xfrm>
          <a:prstGeom prst="rect">
            <a:avLst/>
          </a:prstGeom>
          <a:noFill/>
        </p:spPr>
        <p:txBody>
          <a:bodyPr wrap="square">
            <a:spAutoFit/>
          </a:bodyPr>
          <a:lstStyle/>
          <a:p>
            <a:pPr algn="ctr"/>
            <a:r>
              <a:rPr sz="2400" b="0" i="1">
                <a:solidFill>
                  <a:srgbClr val="38BDF8"/>
                </a:solidFill>
              </a:rPr>
              <a:t>Contract risk, surfaced in seconds.</a:t>
            </a:r>
          </a:p>
        </p:txBody>
      </p:sp>
      <p:sp>
        <p:nvSpPr>
          <p:cNvPr id="4" name="TextBox 3"/>
          <p:cNvSpPr txBox="1"/>
          <p:nvPr/>
        </p:nvSpPr>
        <p:spPr>
          <a:xfrm>
            <a:off x="640080" y="3931920"/>
            <a:ext cx="7863840" cy="548640"/>
          </a:xfrm>
          <a:prstGeom prst="rect">
            <a:avLst/>
          </a:prstGeom>
          <a:noFill/>
        </p:spPr>
        <p:txBody>
          <a:bodyPr wrap="square">
            <a:spAutoFit/>
          </a:bodyPr>
          <a:lstStyle/>
          <a:p>
            <a:pPr algn="ctr"/>
            <a:r>
              <a:rPr sz="1400" b="0" i="0">
                <a:solidFill>
                  <a:srgbClr val="9090A8"/>
                </a:solidFill>
              </a:rPr>
              <a:t>Series A Pitch  |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The Problem</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Enterprise procurement teams review 500–2,000 contracts per year
  Standard review with outside counsel: 3–5 days and $2,000–$8,000 per contract
  1 in 4 contracts contains a material risk clause missed during review
  Legal teams are bottlenecks — business deals stall waiting for sign-off
  The result: slower deal cycles, higher legal spend, and unquantified exposure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Our Solution</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Lexara analyses every clause in a contract in under 4 minutes
  Trained on 6 million contracts across 14 industries — understands context, not just keywords
  Surfaces unfavourable terms, missing protections, and benchmarks against market standards
  Integrates with DocuSign, SharePoint, iManage, and all major CLM platforms
  Legal teams review only the 20% of contracts that need human attention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How It Works</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1. Upload or connect your contract repository (DocuSign, SharePoint, email)
  2. Lexara extracts and classifies every clause: liability, IP, termination, payment, indemnity
  3. Risk score assigned 1–10 with plain-English explanations for each flag
  4. Benchmark: each clause compared against 6M contracts in your industry
  5. Route: only contracts above your risk threshold go to a human reviewer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Traction</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9 enterprise customers including two Magic Circle law firms and three FTSE 250 procurement teams
  $2.1M ARR | 140% net revenue retention
  Average time-to-review reduced from 4.2 days to 18 minutes
  Average legal spend reduction per customer: $840,000 annually
  Pipeline: $6.2M of qualified enterprise deals in active procurement cycles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Market Opportunity</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Global legal tech market: $27B in 2024, projected $50B by 2029
  Contract lifecycle management segment: $3.2B, growing at 14% CAGR
  Enterprise procurement legal spend: $185B annually — almost entirely manual today
  CSRD and supply chain due diligence regulation creating new contract review mandates
  Every Fortune 1000 company is our prospect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Business Model</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Per-seat SaaS: $600/user/month (legal and procurement users)
  Volume pricing: $1,200/month per 1,000 contracts processed
  Implementation fee: $15,000 one-time for enterprise deployments
  Average enterprise contract value: $240,000 ARR
  Gross margin: 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Why We Win</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Kira Systems / Luminance: document review tools. Require months of specialist training. No risk scoring.
  DocuSign CLM: workflow management only. No risk intelligence layer.
  Outside counsel: 10–50x more expensive. Creates dependency. Not scalable.
  Lexara is the only product combining clause extraction, market benchmarking, and plain-English risk explanation
  First product built by a practising partner (not technologists guessing at legal workflow)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Team</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CEO — Sophia Andersen: Former partner at Clifford Chance LLP. Led the firm's legal technology practice for 6 years. Advised 40 FTSE 100 companies on contract risk.
  CTO — Dr. Kevin Yip: PhD in NLP from Stanford. Former research lead at LexisNexis AI. 11 patents in legal language modelling.
  CCO — Marcus Webb: Former Head of Legal Operations at Vodafone. Reduced their external legal spend by 64% using automation. Scaled in-house team from 40 to 12.
  Advisory board: GC of Rolls-Royce, former Chief Innovation Officer of Allen &amp; Overy.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800" b="1" i="0">
                <a:solidFill>
                  <a:srgbClr val="38BDF8"/>
                </a:solidFill>
              </a:rPr>
              <a:t>The Ask</a:t>
            </a:r>
          </a:p>
        </p:txBody>
      </p:sp>
      <p:sp>
        <p:nvSpPr>
          <p:cNvPr id="3" name="Rectangle 2"/>
          <p:cNvSpPr/>
          <p:nvPr/>
        </p:nvSpPr>
        <p:spPr>
          <a:xfrm>
            <a:off x="457200" y="1051560"/>
            <a:ext cx="8229600"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029200"/>
          </a:xfrm>
          <a:prstGeom prst="rect">
            <a:avLst/>
          </a:prstGeom>
          <a:noFill/>
        </p:spPr>
        <p:txBody>
          <a:bodyPr wrap="square">
            <a:spAutoFit/>
          </a:bodyPr>
          <a:lstStyle/>
          <a:p>
            <a:pPr algn="l"/>
            <a:r>
              <a:rPr sz="1800" b="0" i="0">
                <a:solidFill>
                  <a:srgbClr val="E8E8F0"/>
                </a:solidFill>
              </a:rPr>
              <a:t>  Raising $11M Series A
  Use of funds: 55% product and engineering | 30% enterprise sales and legal partnerships | 15% operations
  Lead term sheet received. Seeking one or two co-investors with enterprise SaaS or legal sector expertise.
  Milestones: $10M ARR within 18 months, 25 enterprise customers
  Regulatory tailwinds (EU AI Act, CSRD) accelerating inbound demand — pipeline doubled in Q1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